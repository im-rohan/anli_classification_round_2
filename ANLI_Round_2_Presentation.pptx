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9" r:id="rId1"/>
  </p:sldMasterIdLst>
  <p:sldIdLst>
    <p:sldId id="256" r:id="rId2"/>
    <p:sldId id="259" r:id="rId3"/>
    <p:sldId id="258" r:id="rId4"/>
    <p:sldId id="260" r:id="rId5"/>
    <p:sldId id="263" r:id="rId6"/>
    <p:sldId id="262" r:id="rId7"/>
    <p:sldId id="261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86"/>
    <p:restoredTop sz="94676"/>
  </p:normalViewPr>
  <p:slideViewPr>
    <p:cSldViewPr snapToGrid="0">
      <p:cViewPr varScale="1">
        <p:scale>
          <a:sx n="116" d="100"/>
          <a:sy n="116" d="100"/>
        </p:scale>
        <p:origin x="192" y="6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14279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71789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703516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96606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11/21/25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4223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11/21/25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77106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11/21/25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3835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8106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11/21/25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2463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697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78986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11/21/25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357297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89" r:id="rId2"/>
    <p:sldLayoutId id="2147483690" r:id="rId3"/>
    <p:sldLayoutId id="2147483691" r:id="rId4"/>
    <p:sldLayoutId id="2147483692" r:id="rId5"/>
    <p:sldLayoutId id="2147483698" r:id="rId6"/>
    <p:sldLayoutId id="2147483693" r:id="rId7"/>
    <p:sldLayoutId id="2147483694" r:id="rId8"/>
    <p:sldLayoutId id="2147483695" r:id="rId9"/>
    <p:sldLayoutId id="2147483697" r:id="rId10"/>
    <p:sldLayoutId id="2147483696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456A4BA7-2EE4-28F2-EF2F-B62DA4D753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10" r="9091" b="16812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2CAB1E-D867-C1CF-E929-E05B07DA22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5" y="701964"/>
            <a:ext cx="5370950" cy="3640303"/>
          </a:xfrm>
        </p:spPr>
        <p:txBody>
          <a:bodyPr anchor="t">
            <a:normAutofit/>
          </a:bodyPr>
          <a:lstStyle/>
          <a:p>
            <a:r>
              <a:rPr lang="en-US" sz="6000">
                <a:solidFill>
                  <a:srgbClr val="FFFFFF"/>
                </a:solidFill>
              </a:rPr>
              <a:t>ANLI Round 2 Multiclass Classification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8A04DC-EF38-D2C3-5F4C-0632246D2B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 lnSpcReduction="10000"/>
          </a:bodyPr>
          <a:lstStyle/>
          <a:p>
            <a:r>
              <a:rPr lang="en-US" sz="2000">
                <a:solidFill>
                  <a:srgbClr val="FFFFFF"/>
                </a:solidFill>
              </a:rPr>
              <a:t>Rohan Tanwar</a:t>
            </a:r>
          </a:p>
          <a:p>
            <a:r>
              <a:rPr lang="en-US" sz="2000">
                <a:solidFill>
                  <a:srgbClr val="FFFFFF"/>
                </a:solidFill>
              </a:rPr>
              <a:t>MS AI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73964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0B66783-853D-A848-5E6B-1814B9EAC4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7569B39E-FDAA-9FA6-BC2D-542D56531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A6359D49-266D-EE55-9AA0-4E10C44259D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10" r="9091" b="16812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18A346D4-A16E-797D-A6AE-1C816A743A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076D7BC-FA59-073F-BD67-964474525E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5" y="701965"/>
            <a:ext cx="5370950" cy="969264"/>
          </a:xfrm>
        </p:spPr>
        <p:txBody>
          <a:bodyPr anchor="t">
            <a:normAutofit fontScale="90000"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Dataset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F34848D-9CE0-F815-26B5-D4D2760A03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C6C178B-173C-7D27-66EB-E53BD6E7C6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71569" y="1066800"/>
            <a:ext cx="6705600" cy="47244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3D61C51-89A3-3C1F-88A2-F12EDE226E50}"/>
              </a:ext>
            </a:extLst>
          </p:cNvPr>
          <p:cNvSpPr txBox="1"/>
          <p:nvPr/>
        </p:nvSpPr>
        <p:spPr>
          <a:xfrm>
            <a:off x="457195" y="2126255"/>
            <a:ext cx="426904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Training: 45,460 examples </a:t>
            </a:r>
          </a:p>
          <a:p>
            <a:pPr marL="285750" indent="-285750">
              <a:buFontTx/>
              <a:buChar char="-"/>
            </a:pPr>
            <a:r>
              <a:rPr lang="en-US" dirty="0"/>
              <a:t>Validation: 1,000 examples </a:t>
            </a:r>
          </a:p>
          <a:p>
            <a:pPr marL="285750" indent="-285750">
              <a:buFontTx/>
              <a:buChar char="-"/>
            </a:pPr>
            <a:r>
              <a:rPr lang="en-US" dirty="0"/>
              <a:t>Test: 1,000 examples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828A39C-6E8B-F6DA-C9F6-B42879415064}"/>
              </a:ext>
            </a:extLst>
          </p:cNvPr>
          <p:cNvSpPr txBox="1"/>
          <p:nvPr/>
        </p:nvSpPr>
        <p:spPr>
          <a:xfrm>
            <a:off x="457195" y="3429000"/>
            <a:ext cx="456649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Class Distribution – </a:t>
            </a:r>
          </a:p>
          <a:p>
            <a:pPr marL="285750" indent="-285750">
              <a:buFontTx/>
              <a:buChar char="-"/>
            </a:pPr>
            <a:r>
              <a:rPr lang="en-US" dirty="0"/>
              <a:t>Entailment: 	14,448 (31.78%) </a:t>
            </a:r>
          </a:p>
          <a:p>
            <a:pPr marL="285750" indent="-285750">
              <a:buFontTx/>
              <a:buChar char="-"/>
            </a:pPr>
            <a:r>
              <a:rPr lang="en-US" dirty="0"/>
              <a:t>Neutral: 	20,959 (46.10%) </a:t>
            </a:r>
          </a:p>
          <a:p>
            <a:pPr marL="285750" indent="-285750">
              <a:buFontTx/>
              <a:buChar char="-"/>
            </a:pPr>
            <a:r>
              <a:rPr lang="en-US" dirty="0"/>
              <a:t>Contradiction: 	10,053 (22.11%)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B86C7B7-3B6D-8147-A3DA-1B13E684DD87}"/>
              </a:ext>
            </a:extLst>
          </p:cNvPr>
          <p:cNvSpPr txBox="1"/>
          <p:nvPr/>
        </p:nvSpPr>
        <p:spPr>
          <a:xfrm>
            <a:off x="457194" y="5420499"/>
            <a:ext cx="426904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Average premise: ~ 54 words </a:t>
            </a:r>
          </a:p>
          <a:p>
            <a:pPr marL="285750" indent="-285750">
              <a:buFontTx/>
              <a:buChar char="-"/>
            </a:pPr>
            <a:r>
              <a:rPr lang="en-US" dirty="0"/>
              <a:t>Average hypothesis: ~ 10 words</a:t>
            </a:r>
          </a:p>
        </p:txBody>
      </p:sp>
    </p:spTree>
    <p:extLst>
      <p:ext uri="{BB962C8B-B14F-4D97-AF65-F5344CB8AC3E}">
        <p14:creationId xmlns:p14="http://schemas.microsoft.com/office/powerpoint/2010/main" val="396542102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E5C14C0-F03D-EE76-2F29-2E89765CFF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56E0E0DD-035D-B908-22A1-2198E5305F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022CA5C6-A16A-CB83-515E-F6177578D9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10" r="9091" b="16812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79AAB28A-F48A-D5F6-3312-A421E45870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7C22D3-8D9E-AE6F-C87C-A80A5E935E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5" y="701965"/>
            <a:ext cx="5370950" cy="1049718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ML Pipeline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7673A460-1553-7367-4CFD-CD3ECDAAE6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27625C51-B67A-8716-737B-3C2EFF4EE663}"/>
              </a:ext>
            </a:extLst>
          </p:cNvPr>
          <p:cNvSpPr txBox="1"/>
          <p:nvPr/>
        </p:nvSpPr>
        <p:spPr>
          <a:xfrm>
            <a:off x="540328" y="2104222"/>
            <a:ext cx="6598602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Data Loading: Load dataset from Hugging face</a:t>
            </a:r>
            <a:br>
              <a:rPr lang="en-US" dirty="0"/>
            </a:b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EDA: Class Distribution and text length analysis</a:t>
            </a:r>
            <a:br>
              <a:rPr lang="en-US" dirty="0"/>
            </a:b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Preprocessing: Tokenize premise-hypothesis pairs for NLI task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Training: Setup training arguments and train the model</a:t>
            </a:r>
            <a:br>
              <a:rPr lang="en-US" dirty="0"/>
            </a:b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Evaluation: Evaluate the model on validation and test data. Compute the confusion matrix.</a:t>
            </a:r>
            <a:br>
              <a:rPr lang="en-US" dirty="0"/>
            </a:br>
            <a:endParaRPr lang="en-US" dirty="0"/>
          </a:p>
          <a:p>
            <a:pPr marL="285750" indent="-285750">
              <a:buFontTx/>
              <a:buChar char="-"/>
            </a:pPr>
            <a:r>
              <a:rPr lang="en-US" dirty="0"/>
              <a:t>Deployment: Deploy the model using docker and </a:t>
            </a:r>
            <a:r>
              <a:rPr lang="en-US" dirty="0" err="1"/>
              <a:t>FastAPI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676948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0B84D29-5B2A-AAD1-D93D-3924F2EDD2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46DB0E6-9BD1-7921-66BA-857F682FCB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41518D9F-8355-E802-0F46-2862E965D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10" r="9091" b="16812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FEE9A42F-2C1E-414F-3A3B-91E9860C2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D999104-AF09-F942-ABA1-23CFBC29E4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5" y="701965"/>
            <a:ext cx="6163942" cy="1049718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Model Selection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54386077-2715-006A-D87B-D9603335B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95BFA5C7-7DD5-49C0-96AD-401EEB92CD7A}"/>
              </a:ext>
            </a:extLst>
          </p:cNvPr>
          <p:cNvSpPr txBox="1"/>
          <p:nvPr/>
        </p:nvSpPr>
        <p:spPr>
          <a:xfrm>
            <a:off x="627961" y="2093205"/>
            <a:ext cx="732621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Model 1 - DeBERTa-v3-base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microsoft</a:t>
            </a:r>
            <a:r>
              <a:rPr lang="en-US" dirty="0"/>
              <a:t>/deberta-v3-base</a:t>
            </a:r>
          </a:p>
          <a:p>
            <a:pPr marL="285750" indent="-285750">
              <a:buFontTx/>
              <a:buChar char="-"/>
            </a:pPr>
            <a:r>
              <a:rPr lang="en-US" dirty="0"/>
              <a:t>NLI Specialized model employing Disentangled Attention and Enhanced Mask Decoder</a:t>
            </a:r>
          </a:p>
          <a:p>
            <a:pPr marL="285750" indent="-285750">
              <a:buFontTx/>
              <a:buChar char="-"/>
            </a:pPr>
            <a:endParaRPr lang="en-US" dirty="0"/>
          </a:p>
          <a:p>
            <a:r>
              <a:rPr lang="en-US" dirty="0"/>
              <a:t>But we move to the next model because its growth plateaued despite initial steady learning.</a:t>
            </a:r>
          </a:p>
          <a:p>
            <a:r>
              <a:rPr lang="en-US" dirty="0"/>
              <a:t>Possibility of achieving better results if trained for more epochs.</a:t>
            </a:r>
            <a:br>
              <a:rPr lang="en-US" dirty="0"/>
            </a:br>
            <a:r>
              <a:rPr lang="en-US" dirty="0"/>
              <a:t>Not pursued due to GPU time constraints.</a:t>
            </a:r>
          </a:p>
          <a:p>
            <a:endParaRPr lang="en-US" dirty="0"/>
          </a:p>
          <a:p>
            <a:r>
              <a:rPr lang="en-US" dirty="0"/>
              <a:t>Model 2 – Pre-trained DeBERTa-v3-base on MNLI/FEVER/ANLI R1</a:t>
            </a:r>
          </a:p>
          <a:p>
            <a:pPr marL="285750" indent="-285750">
              <a:buFontTx/>
              <a:buChar char="-"/>
            </a:pPr>
            <a:r>
              <a:rPr lang="en-US" dirty="0" err="1"/>
              <a:t>MoritzLaurer</a:t>
            </a:r>
            <a:r>
              <a:rPr lang="en-US" dirty="0"/>
              <a:t>/DeBERTa-v3-base-mnli-fever-anli</a:t>
            </a:r>
          </a:p>
          <a:p>
            <a:pPr marL="285750" indent="-285750">
              <a:buFontTx/>
              <a:buChar char="-"/>
            </a:pPr>
            <a:r>
              <a:rPr lang="en-US" dirty="0"/>
              <a:t>More likely to provide better results as its already trained on R1 providing task specific checkpoint for NLI.</a:t>
            </a:r>
          </a:p>
          <a:p>
            <a:pPr marL="285750" indent="-285750">
              <a:buFontTx/>
              <a:buChar char="-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29579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EE50852-A474-934F-DC01-50CB7967C0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DF43E702-D1EF-2BDF-3288-27A84C365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411FA2A7-2D68-2452-75B2-72031F6B1C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10" r="9091" b="16812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5CD17CA0-7868-5CE7-26B5-F97B54EB54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E7161F2-669B-6732-A308-2C95CD4E8A0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4" y="701965"/>
            <a:ext cx="6858005" cy="1049718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Result and Analysis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05627D57-FF5F-FC17-6A3E-47F795BA2B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42C1078B-9AD9-5B9D-D626-579150A01B0E}"/>
              </a:ext>
            </a:extLst>
          </p:cNvPr>
          <p:cNvSpPr txBox="1"/>
          <p:nvPr/>
        </p:nvSpPr>
        <p:spPr>
          <a:xfrm>
            <a:off x="457194" y="2084315"/>
            <a:ext cx="691809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 Baseline – 33.3%</a:t>
            </a:r>
          </a:p>
          <a:p>
            <a:r>
              <a:rPr lang="en-US" dirty="0"/>
              <a:t>SOTA Models – 78%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0E9B626-99BB-74E4-F60F-80A5C11C3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821278"/>
              </p:ext>
            </p:extLst>
          </p:nvPr>
        </p:nvGraphicFramePr>
        <p:xfrm>
          <a:off x="457194" y="2864413"/>
          <a:ext cx="81280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721120312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1113886252"/>
                    </a:ext>
                  </a:extLst>
                </a:gridCol>
                <a:gridCol w="2247383">
                  <a:extLst>
                    <a:ext uri="{9D8B030D-6E8A-4147-A177-3AD203B41FA5}">
                      <a16:colId xmlns:a16="http://schemas.microsoft.com/office/drawing/2014/main" val="626557225"/>
                    </a:ext>
                  </a:extLst>
                </a:gridCol>
                <a:gridCol w="1816617">
                  <a:extLst>
                    <a:ext uri="{9D8B030D-6E8A-4147-A177-3AD203B41FA5}">
                      <a16:colId xmlns:a16="http://schemas.microsoft.com/office/drawing/2014/main" val="345137923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Model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Training Accuracy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Validation Accuracy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Test Accuracy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84157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Base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50%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48.5%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847459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Transfer Learning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55%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55%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52%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99542498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D25E3BB0-75A2-E102-4113-098CE664806D}"/>
              </a:ext>
            </a:extLst>
          </p:cNvPr>
          <p:cNvSpPr txBox="1"/>
          <p:nvPr/>
        </p:nvSpPr>
        <p:spPr>
          <a:xfrm>
            <a:off x="236856" y="4994893"/>
            <a:ext cx="81280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The confusion matrix reveals that both models struggle most with detecting contradictions - only 41% recall. </a:t>
            </a:r>
          </a:p>
          <a:p>
            <a:pPr marL="285750" indent="-285750">
              <a:buFontTx/>
              <a:buChar char="-"/>
            </a:pPr>
            <a:r>
              <a:rPr lang="en-US" dirty="0"/>
              <a:t>They frequently misclassify contradictions as neutral, showing they learned to be 'uncertain' rather than making strong predictions.</a:t>
            </a:r>
          </a:p>
        </p:txBody>
      </p:sp>
    </p:spTree>
    <p:extLst>
      <p:ext uri="{BB962C8B-B14F-4D97-AF65-F5344CB8AC3E}">
        <p14:creationId xmlns:p14="http://schemas.microsoft.com/office/powerpoint/2010/main" val="291628500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D879563-6D76-026E-D93E-F36C63EB8E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3C1A32B6-B207-26B9-381F-60EC296606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8EB7A55E-CFC6-8B88-E7E6-041C48B1BD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10" r="9091" b="16812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45379F95-EF5F-A7CE-264D-4CD9935949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73F3D28-70E3-E7E5-3E7C-B40907A875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5" y="701965"/>
            <a:ext cx="5370950" cy="1049718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Deployment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A160F53A-7C7F-48B1-F70A-B3FB63200E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36E05625-4B69-22D5-9E2D-4349DD9D3549}"/>
              </a:ext>
            </a:extLst>
          </p:cNvPr>
          <p:cNvSpPr txBox="1"/>
          <p:nvPr/>
        </p:nvSpPr>
        <p:spPr>
          <a:xfrm>
            <a:off x="540329" y="2413337"/>
            <a:ext cx="6598601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Docker for deployment</a:t>
            </a:r>
          </a:p>
          <a:p>
            <a:r>
              <a:rPr lang="en-US" dirty="0" err="1"/>
              <a:t>FastAPI</a:t>
            </a:r>
            <a:r>
              <a:rPr lang="en-US" dirty="0"/>
              <a:t> for API endpoints</a:t>
            </a:r>
          </a:p>
          <a:p>
            <a:endParaRPr lang="en-US" dirty="0"/>
          </a:p>
          <a:p>
            <a:r>
              <a:rPr lang="en-US" dirty="0"/>
              <a:t>API endpoints – </a:t>
            </a:r>
          </a:p>
          <a:p>
            <a:pPr marL="285750" indent="-285750">
              <a:buFontTx/>
              <a:buChar char="-"/>
            </a:pPr>
            <a:r>
              <a:rPr lang="en-US" dirty="0"/>
              <a:t>Health Check</a:t>
            </a:r>
          </a:p>
          <a:p>
            <a:pPr marL="285750" indent="-285750">
              <a:buFontTx/>
              <a:buChar char="-"/>
            </a:pPr>
            <a:r>
              <a:rPr lang="en-US" dirty="0"/>
              <a:t>Predict: Base | Transfer Learning | Both</a:t>
            </a:r>
          </a:p>
          <a:p>
            <a:pPr marL="285750" indent="-285750">
              <a:buFontTx/>
              <a:buChar char="-"/>
            </a:pPr>
            <a:r>
              <a:rPr lang="en-US" dirty="0"/>
              <a:t>Model info</a:t>
            </a:r>
          </a:p>
        </p:txBody>
      </p:sp>
    </p:spTree>
    <p:extLst>
      <p:ext uri="{BB962C8B-B14F-4D97-AF65-F5344CB8AC3E}">
        <p14:creationId xmlns:p14="http://schemas.microsoft.com/office/powerpoint/2010/main" val="560131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2B4D86E-C831-FC2B-441A-50AE732182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15E94995-08A5-3419-54AE-CD6540DF1F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4D49D1D5-A6B1-1C78-F2F6-D60F05D17A4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10" r="9091" b="16812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7002BA09-4818-536E-148C-C02D50B0CE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4B8DD68-B587-0A0E-E592-A1D87220D65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57194" y="701965"/>
            <a:ext cx="6296145" cy="1027684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Key Takeaways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D3493613-CBDD-BC0F-7AA9-21F48D99FE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>
            <a:extLst>
              <a:ext uri="{FF2B5EF4-FFF2-40B4-BE49-F238E27FC236}">
                <a16:creationId xmlns:a16="http://schemas.microsoft.com/office/drawing/2014/main" id="{53CFB580-EAF3-647F-3B76-56A653F025F4}"/>
              </a:ext>
            </a:extLst>
          </p:cNvPr>
          <p:cNvSpPr txBox="1">
            <a:spLocks/>
          </p:cNvSpPr>
          <p:nvPr/>
        </p:nvSpPr>
        <p:spPr>
          <a:xfrm>
            <a:off x="457193" y="3833522"/>
            <a:ext cx="6296145" cy="10276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sz="54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6000" dirty="0">
                <a:solidFill>
                  <a:srgbClr val="FFFFFF"/>
                </a:solidFill>
              </a:rPr>
              <a:t>Future Work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417C25C-3743-D2CF-120F-FE3E081B3CAD}"/>
              </a:ext>
            </a:extLst>
          </p:cNvPr>
          <p:cNvSpPr txBox="1"/>
          <p:nvPr/>
        </p:nvSpPr>
        <p:spPr>
          <a:xfrm>
            <a:off x="540329" y="1961002"/>
            <a:ext cx="6543517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Evaluated multiple models, varying training arguments and identified failure modes through metrics</a:t>
            </a:r>
          </a:p>
          <a:p>
            <a:pPr marL="285750" indent="-285750">
              <a:buFontTx/>
              <a:buChar char="-"/>
            </a:pPr>
            <a:r>
              <a:rPr lang="en-US" dirty="0"/>
              <a:t>Understanding the nature of adversarial data which is designed to exploit model biases</a:t>
            </a:r>
          </a:p>
          <a:p>
            <a:pPr marL="285750" indent="-285750">
              <a:buFontTx/>
              <a:buChar char="-"/>
            </a:pPr>
            <a:r>
              <a:rPr lang="en-US" dirty="0"/>
              <a:t>Developed a complete ML pipeline and deployed the </a:t>
            </a:r>
            <a:r>
              <a:rPr lang="en-US" dirty="0" err="1"/>
              <a:t>resuling</a:t>
            </a:r>
            <a:r>
              <a:rPr lang="en-US" dirty="0"/>
              <a:t> model using docker &amp; </a:t>
            </a:r>
            <a:r>
              <a:rPr lang="en-US" dirty="0" err="1"/>
              <a:t>FastAPI</a:t>
            </a:r>
            <a:r>
              <a:rPr lang="en-US" dirty="0"/>
              <a:t>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54DA698-9153-2440-D992-85F1C8820EF7}"/>
              </a:ext>
            </a:extLst>
          </p:cNvPr>
          <p:cNvSpPr txBox="1"/>
          <p:nvPr/>
        </p:nvSpPr>
        <p:spPr>
          <a:xfrm>
            <a:off x="540329" y="5089793"/>
            <a:ext cx="736978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/>
              <a:t>Ensemble methods (base + transfer + other architectures)</a:t>
            </a:r>
          </a:p>
          <a:p>
            <a:pPr marL="285750" indent="-285750">
              <a:buFontTx/>
              <a:buChar char="-"/>
            </a:pPr>
            <a:r>
              <a:rPr lang="en-US" dirty="0"/>
              <a:t>Extended training (20+ epochs with better regularization)</a:t>
            </a:r>
          </a:p>
        </p:txBody>
      </p:sp>
    </p:spTree>
    <p:extLst>
      <p:ext uri="{BB962C8B-B14F-4D97-AF65-F5344CB8AC3E}">
        <p14:creationId xmlns:p14="http://schemas.microsoft.com/office/powerpoint/2010/main" val="399271884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C55659B-1A23-56E6-3D1C-F69A7841DE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A2D717C0-00F5-6D6F-3358-44B55C3E2F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Top view of wood desk with the plant, white keyboard, coffee in a white mug, notebook, and pen">
            <a:extLst>
              <a:ext uri="{FF2B5EF4-FFF2-40B4-BE49-F238E27FC236}">
                <a16:creationId xmlns:a16="http://schemas.microsoft.com/office/drawing/2014/main" id="{CFE50D4E-3A73-3802-2A40-CD712F1A69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7710" r="9091" b="16812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F73AAAD5-F764-2F18-65CF-E533E815B7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3B533B-8459-CEAA-4830-622EC32310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825820" y="3041054"/>
            <a:ext cx="6296145" cy="3640303"/>
          </a:xfrm>
        </p:spPr>
        <p:txBody>
          <a:bodyPr anchor="t">
            <a:normAutofit/>
          </a:bodyPr>
          <a:lstStyle/>
          <a:p>
            <a:r>
              <a:rPr lang="en-US" sz="6000" dirty="0">
                <a:solidFill>
                  <a:srgbClr val="FFFFFF"/>
                </a:solidFill>
              </a:rPr>
              <a:t>THANK YOU</a:t>
            </a:r>
          </a:p>
        </p:txBody>
      </p:sp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2043A067-33C7-23E3-019F-8689D7409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98096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374</Words>
  <Application>Microsoft Macintosh PowerPoint</Application>
  <PresentationFormat>Widescreen</PresentationFormat>
  <Paragraphs>65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Grandview Display</vt:lpstr>
      <vt:lpstr>Neue Haas Grotesk Text Pro</vt:lpstr>
      <vt:lpstr>DashVTI</vt:lpstr>
      <vt:lpstr>ANLI Round 2 Multiclass Classification</vt:lpstr>
      <vt:lpstr>Dataset</vt:lpstr>
      <vt:lpstr>ML Pipeline</vt:lpstr>
      <vt:lpstr>Model Selection</vt:lpstr>
      <vt:lpstr>Result and Analysis</vt:lpstr>
      <vt:lpstr>Deployment</vt:lpstr>
      <vt:lpstr>Key Takeaways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Rohan Tanwar</dc:creator>
  <cp:lastModifiedBy>Rohan Tanwar</cp:lastModifiedBy>
  <cp:revision>1</cp:revision>
  <dcterms:created xsi:type="dcterms:W3CDTF">2025-11-21T07:35:13Z</dcterms:created>
  <dcterms:modified xsi:type="dcterms:W3CDTF">2025-11-21T12:53:52Z</dcterms:modified>
</cp:coreProperties>
</file>